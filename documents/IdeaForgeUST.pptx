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07" r:id="rId4"/>
  </p:sldMasterIdLst>
  <p:notesMasterIdLst>
    <p:notesMasterId r:id="rId15"/>
  </p:notesMasterIdLst>
  <p:sldIdLst>
    <p:sldId id="2142532143" r:id="rId5"/>
    <p:sldId id="2142532168" r:id="rId6"/>
    <p:sldId id="2142532173" r:id="rId7"/>
    <p:sldId id="2142532174" r:id="rId8"/>
    <p:sldId id="2142532175" r:id="rId9"/>
    <p:sldId id="2142532169" r:id="rId10"/>
    <p:sldId id="2142532176" r:id="rId11"/>
    <p:sldId id="2142532172" r:id="rId12"/>
    <p:sldId id="2142532170" r:id="rId13"/>
    <p:sldId id="2142532171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8C7B563-3E86-3940-AE6F-B3195E0F665F}">
          <p14:sldIdLst>
            <p14:sldId id="2142532143"/>
            <p14:sldId id="2142532168"/>
            <p14:sldId id="2142532173"/>
            <p14:sldId id="2142532174"/>
            <p14:sldId id="2142532175"/>
            <p14:sldId id="2142532169"/>
            <p14:sldId id="2142532176"/>
            <p14:sldId id="2142532172"/>
            <p14:sldId id="2142532170"/>
            <p14:sldId id="21425321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B9A502-8C9F-26BC-83C3-FFEA2E9DB758}" name="Philip  Gottwald" initials="PG" userId="S::Philip.Gottwald@sq-solutions.de::83be3f71-209f-4ece-89e0-b0f7e9240548" providerId="AD"/>
  <p188:author id="{5E36F722-9104-727D-ABC8-3FE6147C3205}" name="Christoph Gaudl" initials="CG" userId="S::christoph.gaudl@sq-solutions.de::7221b75d-5b04-44ab-8989-de662ac90644" providerId="AD"/>
  <p188:author id="{50854735-8825-08B0-7A99-E9F13835C116}" name="Paul Ole Gasthuber" initials="" userId="S::pog@seitco.de::d9fd8cff-38d4-4813-9357-c3110dc22fcd" providerId="AD"/>
  <p188:author id="{35135543-D2D7-BB63-AC31-6F3F804E19EB}" name="Christine Kuck" initials="CK" userId="S::Christine.Kuck@sq-solutions.de::cd2d4209-cf13-4a5c-b723-d6f18729bad8" providerId="AD"/>
  <p188:author id="{97D9A44E-C028-37AF-C5B6-E73B0946251E}" name="Fengler, Astrid" initials="AF" userId="S::CB2HALL@ztb.icb.commerzbank.com::6768bca8-bce9-4f6c-a6df-174a412a0f99" providerId="AD"/>
  <p188:author id="{CF800A51-7688-9356-0EC0-384364DA0919}" name="Jüttner" initials="Jü" userId="S::aj_seitco.de#ext#@sqsolutionsde.onmicrosoft.com::b657c6f2-fed7-4a7c-b27b-8fa7a5509116" providerId="AD"/>
  <p188:author id="{37391E74-7D55-27AE-CA7B-CCE0B745D122}" name="Patrick Weber" initials="PW" userId="S::patrick.weber@sq-solutions.de::b1dac678-e0a6-49fe-b1d5-34ff40ecbe82" providerId="AD"/>
  <p188:author id="{8509747C-0DCF-8E64-B569-81CBD1EE7086}" name="Dennis Seifert" initials="DS" userId="S::dennis.seifert@sq-solutions.de::b7be0354-ec1e-4a2f-975b-205d5c1e4c1e" providerId="AD"/>
  <p188:author id="{28834188-5E07-7077-1A30-ED7191B34840}" name="Matthäus Wyppich" initials="MW" userId="S::nmw@seitco.de::6c945b13-b0e7-4a4c-b8c8-006d5982c476" providerId="AD"/>
  <p188:author id="{BB1801C8-1704-0D92-8971-D7795D47413A}" name="Tim Wenzel" initials="TW" userId="S::tim.wenzel@sq-solutions.de::22c02ff9-8ac3-4251-8b4e-8181c3e055e8" providerId="AD"/>
  <p188:author id="{5F0E7EDA-4FA2-5283-EB76-328C7577A605}" name="SQ Solutions" initials="" userId="S::info@sq-solutions.de::7e09915b-7386-4319-bbda-7c0949800e0a" providerId="AD"/>
  <p188:author id="{726D97DF-8646-F2CE-3559-C5031B6C4039}" name="Arne Jüttner" initials="" userId="S::aj@seitco.de::24565483-362e-45a9-818d-fe96d0b89ae9" providerId="AD"/>
  <p188:author id="{33B631E5-305A-EF7D-C511-F6EC4D2B2DED}" name="Dennis Seifert" initials="DS" userId="S::ds@seitco.de::124e1905-8eef-4e44-b6aa-f9b334bb6d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077"/>
    <a:srgbClr val="CA9532"/>
    <a:srgbClr val="99CA85"/>
    <a:srgbClr val="E2E239"/>
    <a:srgbClr val="00BB8F"/>
    <a:srgbClr val="E50047"/>
    <a:srgbClr val="92D04F"/>
    <a:srgbClr val="FF0000"/>
    <a:srgbClr val="FF00FF"/>
    <a:srgbClr val="D0F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8"/>
    <p:restoredTop sz="90753"/>
  </p:normalViewPr>
  <p:slideViewPr>
    <p:cSldViewPr snapToGrid="0" showGuides="1">
      <p:cViewPr varScale="1">
        <p:scale>
          <a:sx n="85" d="100"/>
          <a:sy n="85" d="100"/>
        </p:scale>
        <p:origin x="1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D6174-683A-9849-ACCD-164DF57579D9}" type="datetimeFigureOut">
              <a:rPr lang="de-DE" smtClean="0"/>
              <a:t>24.10.26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B27F4-0D3B-2D4E-BBBD-A8730D1204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27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936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246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75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0FD8-402C-4D88-169C-5376D34E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2DEAD5-9A5C-2F1B-E055-82E075BA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7F3F95-14C9-9235-A1D4-335D0BF2D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6F87E9-A39B-5228-E510-238E3630B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825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F457-B682-5C05-5BAE-06C844DA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D5C39D-5886-B715-4371-7889683F0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C995DD-B222-FCDF-5E4B-6F6278952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DA110D-DAB8-A307-182E-85EDBAA66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19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6C73-65CF-82FC-087F-380218EF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FD0D1F5-96F7-6A75-C911-862357767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4C70E4-6402-909C-7EA5-065A237D2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347F46-9BB5-1A56-081C-4EB51DAAC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982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3F93-CB74-01C9-2A97-BDC79BDA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6A9102-845D-3760-CB4B-4E0169CE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AB8A4D-979E-7B21-F93A-5CEF4A279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A5CCA8-CBCE-E2B7-E191-529C23C6C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692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0062-9569-4428-B871-CC014381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71ABDC-055A-E31F-6A24-6987E8D4A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E5DF30-F685-5D3A-4344-D19A9E580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699A3D-D0E9-851D-0064-60E378790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B27F4-0D3B-2D4E-BBBD-A8730D1204C3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02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8072-16B5-D06A-653F-C682F3F6FD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2" y="1304926"/>
            <a:ext cx="11522075" cy="226853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800" b="1" i="0">
                <a:solidFill>
                  <a:schemeClr val="accent6"/>
                </a:solidFill>
                <a:latin typeface="Neue Regrade Semibold" pitchFamily="2" charset="0"/>
              </a:defRPr>
            </a:lvl1pPr>
          </a:lstStyle>
          <a:p>
            <a:r>
              <a:rPr lang="en-GB" dirty="0"/>
              <a:t>Titel </a:t>
            </a:r>
            <a:r>
              <a:rPr lang="en-GB" dirty="0" err="1"/>
              <a:t>hinzufügen</a:t>
            </a:r>
            <a:endParaRPr lang="de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D0789-C7FA-F17E-129A-7414F193B40E}"/>
              </a:ext>
            </a:extLst>
          </p:cNvPr>
          <p:cNvSpPr/>
          <p:nvPr/>
        </p:nvSpPr>
        <p:spPr>
          <a:xfrm>
            <a:off x="0" y="5589588"/>
            <a:ext cx="2437021" cy="1268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6CA8B6-BC03-6CBA-005A-DF4905B35512}"/>
              </a:ext>
            </a:extLst>
          </p:cNvPr>
          <p:cNvSpPr/>
          <p:nvPr/>
        </p:nvSpPr>
        <p:spPr>
          <a:xfrm>
            <a:off x="2437021" y="5589588"/>
            <a:ext cx="2447367" cy="1268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A9438-E5C3-7AAC-DBB0-CF09D98F4718}"/>
              </a:ext>
            </a:extLst>
          </p:cNvPr>
          <p:cNvSpPr/>
          <p:nvPr/>
        </p:nvSpPr>
        <p:spPr>
          <a:xfrm>
            <a:off x="7321409" y="5589588"/>
            <a:ext cx="2437021" cy="12684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B651AD-4ABE-191C-9120-013DD94BC561}"/>
              </a:ext>
            </a:extLst>
          </p:cNvPr>
          <p:cNvSpPr/>
          <p:nvPr/>
        </p:nvSpPr>
        <p:spPr>
          <a:xfrm>
            <a:off x="9754979" y="5589588"/>
            <a:ext cx="2437021" cy="12684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8574E-6BF7-17AF-8D9E-85AD90AF6D83}"/>
              </a:ext>
            </a:extLst>
          </p:cNvPr>
          <p:cNvSpPr/>
          <p:nvPr/>
        </p:nvSpPr>
        <p:spPr>
          <a:xfrm>
            <a:off x="4884388" y="5589588"/>
            <a:ext cx="2447367" cy="12684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AB2822EF-D92A-4EAC-7B7A-94C1ECD935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BA59B7-C8EE-F1AE-4B21-850FD4904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4019024"/>
            <a:ext cx="11522075" cy="1268412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Dokumentenart, Ort und Datum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3C8FE9A-EFB7-7834-742B-2D2F7A3B40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6801" y="368300"/>
            <a:ext cx="1900238" cy="469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Kundenlogo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0157E2A-7592-1BBC-F0F9-897A23A9FC0B}"/>
              </a:ext>
            </a:extLst>
          </p:cNvPr>
          <p:cNvSpPr/>
          <p:nvPr userDrawn="1"/>
        </p:nvSpPr>
        <p:spPr>
          <a:xfrm>
            <a:off x="0" y="5589588"/>
            <a:ext cx="2437021" cy="1268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1C2D5DD-C115-BACD-1C9B-37F27018FEF8}"/>
              </a:ext>
            </a:extLst>
          </p:cNvPr>
          <p:cNvSpPr/>
          <p:nvPr userDrawn="1"/>
        </p:nvSpPr>
        <p:spPr>
          <a:xfrm>
            <a:off x="2437021" y="5589588"/>
            <a:ext cx="2447367" cy="12684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025CE3D8-1975-33F2-89DA-25799D4FC723}"/>
              </a:ext>
            </a:extLst>
          </p:cNvPr>
          <p:cNvSpPr/>
          <p:nvPr userDrawn="1"/>
        </p:nvSpPr>
        <p:spPr>
          <a:xfrm>
            <a:off x="7321409" y="5589588"/>
            <a:ext cx="2437021" cy="1268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2D38C1A-065D-C3E7-61E1-C84295657CB7}"/>
              </a:ext>
            </a:extLst>
          </p:cNvPr>
          <p:cNvSpPr/>
          <p:nvPr userDrawn="1"/>
        </p:nvSpPr>
        <p:spPr>
          <a:xfrm>
            <a:off x="9754979" y="5589588"/>
            <a:ext cx="2437021" cy="12684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E8766C79-6E89-A527-CFE2-C54B112509A7}"/>
              </a:ext>
            </a:extLst>
          </p:cNvPr>
          <p:cNvSpPr/>
          <p:nvPr userDrawn="1"/>
        </p:nvSpPr>
        <p:spPr>
          <a:xfrm>
            <a:off x="4884388" y="5589588"/>
            <a:ext cx="2447367" cy="1268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444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Kastor und Pollux">
            <a:extLst>
              <a:ext uri="{FF2B5EF4-FFF2-40B4-BE49-F238E27FC236}">
                <a16:creationId xmlns:a16="http://schemas.microsoft.com/office/drawing/2014/main" id="{B26381B7-4B26-E05B-99FF-2E6874F00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24191" y="1304925"/>
            <a:ext cx="4367809" cy="55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Bildplatzhalter 5">
            <a:extLst>
              <a:ext uri="{FF2B5EF4-FFF2-40B4-BE49-F238E27FC236}">
                <a16:creationId xmlns:a16="http://schemas.microsoft.com/office/drawing/2014/main" id="{75329AEA-4985-4608-B4F5-EC05B701D9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1304925"/>
            <a:ext cx="4367212" cy="5553075"/>
          </a:xfrm>
          <a:noFill/>
        </p:spPr>
        <p:txBody>
          <a:bodyPr tIns="0" rIns="504000" bIns="1152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  <a:lvl6pPr algn="ctr">
              <a:lnSpc>
                <a:spcPct val="100000"/>
              </a:lnSpc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6pPr>
            <a:lvl7pPr algn="ctr">
              <a:defRPr sz="1200">
                <a:solidFill>
                  <a:schemeClr val="tx1"/>
                </a:solidFill>
              </a:defRPr>
            </a:lvl7pPr>
            <a:lvl8pPr algn="ctr">
              <a:defRPr sz="1200">
                <a:solidFill>
                  <a:schemeClr val="tx1"/>
                </a:solidFill>
              </a:defRPr>
            </a:lvl8pPr>
            <a:lvl9pPr algn="ctr">
              <a:defRPr sz="12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Bild durch Klicken auf </a:t>
            </a:r>
            <a:br>
              <a:rPr lang="de-DE"/>
            </a:br>
            <a:r>
              <a:rPr lang="de-DE"/>
              <a:t>das Symbol ändern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625EE06-8A85-0493-D6E2-CB386D9B94DF}"/>
              </a:ext>
            </a:extLst>
          </p:cNvPr>
          <p:cNvSpPr/>
          <p:nvPr/>
        </p:nvSpPr>
        <p:spPr>
          <a:xfrm>
            <a:off x="0" y="1304925"/>
            <a:ext cx="7823595" cy="5553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38072-16B5-D06A-653F-C682F3F6FD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898" y="1304925"/>
            <a:ext cx="7183435" cy="342477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en-GB" dirty="0"/>
              <a:t>Titel </a:t>
            </a:r>
            <a:r>
              <a:rPr lang="en-GB" dirty="0" err="1"/>
              <a:t>hinzufügen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BA59B7-C8EE-F1AE-4B21-850FD4904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899" y="5020730"/>
            <a:ext cx="7183435" cy="817037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Dokumentenart, Ort und Datum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3C8FE9A-EFB7-7834-742B-2D2F7A3B40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6801" y="368300"/>
            <a:ext cx="1900238" cy="469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Kundenlogo</a:t>
            </a:r>
          </a:p>
        </p:txBody>
      </p:sp>
      <p:pic>
        <p:nvPicPr>
          <p:cNvPr id="11" name="Inhaltsplatzhalter 3">
            <a:extLst>
              <a:ext uri="{FF2B5EF4-FFF2-40B4-BE49-F238E27FC236}">
                <a16:creationId xmlns:a16="http://schemas.microsoft.com/office/drawing/2014/main" id="{C05FC610-22C0-2E06-F4B5-1436EC1E5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961" y="369645"/>
            <a:ext cx="1008511" cy="5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3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nuelle Eingabe 2">
            <a:extLst>
              <a:ext uri="{FF2B5EF4-FFF2-40B4-BE49-F238E27FC236}">
                <a16:creationId xmlns:a16="http://schemas.microsoft.com/office/drawing/2014/main" id="{1DABCC51-9BA5-7B7C-77FA-4911F79139BE}"/>
              </a:ext>
            </a:extLst>
          </p:cNvPr>
          <p:cNvSpPr/>
          <p:nvPr userDrawn="1"/>
        </p:nvSpPr>
        <p:spPr>
          <a:xfrm rot="16200000" flipV="1">
            <a:off x="855132" y="-855134"/>
            <a:ext cx="6857999" cy="8568270"/>
          </a:xfrm>
          <a:prstGeom prst="flowChartManualInpu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38072-16B5-D06A-653F-C682F3F6FD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899" y="1304925"/>
            <a:ext cx="6675434" cy="342477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BA59B7-C8EE-F1AE-4B21-850FD4904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900" y="5020730"/>
            <a:ext cx="6675434" cy="817037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Dokumentenart, Ort und Datum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3C8FE9A-EFB7-7834-742B-2D2F7A3B40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368300"/>
            <a:ext cx="2665412" cy="5762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Kundenlogo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3EE157-E293-BBAC-3AD0-DB743A7449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489" y="295589"/>
            <a:ext cx="1111155" cy="57277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7A41FB3-BE44-1603-B2BB-264052C77864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831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1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7518BC-4289-4B78-3B82-2D6BC7F04F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BBC2F7-288F-6608-9EA8-FAF44FC27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65" y="1465290"/>
            <a:ext cx="11496858" cy="24685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8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B5D5659B-856F-544A-D419-A7E5752891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01" y="63131"/>
            <a:ext cx="2797313" cy="1025894"/>
          </a:xfrm>
          <a:prstGeom prst="rect">
            <a:avLst/>
          </a:prstGeom>
        </p:spPr>
      </p:pic>
      <p:pic>
        <p:nvPicPr>
          <p:cNvPr id="3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6997D279-FAD6-039B-2605-F15511BB90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300CDEA8-C3CB-300D-B103-CFD88A64135D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C4A149C8-64B5-0B8E-156D-26D5BEBBFC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963" y="339079"/>
            <a:ext cx="1949019" cy="1000848"/>
          </a:xfrm>
          <a:prstGeom prst="rect">
            <a:avLst/>
          </a:prstGeom>
        </p:spPr>
      </p:pic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9872564E-1059-320A-540A-7BB51723739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0838" y="1916832"/>
            <a:ext cx="11506200" cy="2520231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4313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7518BC-4289-4B78-3B82-2D6BC7F04F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ADAB16-9E2E-B0BC-D313-43E40465F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65" y="1465290"/>
            <a:ext cx="11496858" cy="24685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8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7A177FF-BB85-9713-DAA5-2C4EF9D7AED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01" y="63131"/>
            <a:ext cx="2797313" cy="1025894"/>
          </a:xfrm>
          <a:prstGeom prst="rect">
            <a:avLst/>
          </a:prstGeom>
        </p:spPr>
      </p:pic>
      <p:pic>
        <p:nvPicPr>
          <p:cNvPr id="5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3E7DBF2A-28E7-2689-F542-42F4E816AE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6F18FEEF-5CD1-F2B2-90C1-C0EE49929E8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05658B4D-A7F2-4144-9CA4-11C5C7FAED2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0838" y="1916832"/>
            <a:ext cx="11506200" cy="2520231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699761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3 Mittleres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7518BC-4289-4B78-3B82-2D6BC7F04F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B6808-72FE-812B-D0F6-0A46A712D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65" y="1465290"/>
            <a:ext cx="11496858" cy="24685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8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F7CF0127-1F9A-676E-305A-21BAA8CF9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01" y="63131"/>
            <a:ext cx="2797313" cy="1025894"/>
          </a:xfrm>
          <a:prstGeom prst="rect">
            <a:avLst/>
          </a:prstGeom>
        </p:spPr>
      </p:pic>
      <p:pic>
        <p:nvPicPr>
          <p:cNvPr id="4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BF2EBF17-95A1-DF24-80DD-982AC8138E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269BD74C-0499-24F0-175C-211E782C5B0A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821099A4-2E51-A012-9F97-52A33A8541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963" y="339079"/>
            <a:ext cx="1949019" cy="1000848"/>
          </a:xfrm>
          <a:prstGeom prst="rect">
            <a:avLst/>
          </a:prstGeom>
        </p:spPr>
      </p:pic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CEE971DF-B325-A66A-2392-60B4F725F7C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0838" y="1916832"/>
            <a:ext cx="11506200" cy="2520231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35560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4 Dunkles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7518BC-4289-4B78-3B82-2D6BC7F04F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5CAF1-7C8A-B24B-5CBA-87688E1F6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65" y="1465290"/>
            <a:ext cx="11496858" cy="24685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8800" b="0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D351467D-C51D-76A8-A91F-80A1906A83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01" y="63131"/>
            <a:ext cx="2797313" cy="1025894"/>
          </a:xfrm>
          <a:prstGeom prst="rect">
            <a:avLst/>
          </a:prstGeom>
        </p:spPr>
      </p:pic>
      <p:pic>
        <p:nvPicPr>
          <p:cNvPr id="4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51DC9F0C-5908-F611-EF41-1B26AA34C4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6AAAF9C2-D520-635C-A41E-0F7E0CF809B2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523ECA33-B314-72AC-78D9-E33F936C2A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963" y="339079"/>
            <a:ext cx="1949019" cy="1000848"/>
          </a:xfrm>
          <a:prstGeom prst="rect">
            <a:avLst/>
          </a:prstGeom>
        </p:spPr>
      </p:pic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018A8688-DE4A-316C-1031-78A118DFDF4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0838" y="1916832"/>
            <a:ext cx="11506200" cy="2520231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6912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5 Blau-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87518BC-4289-4B78-3B82-2D6BC7F04F0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7BC71-57AB-2254-F983-7B9191B91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65" y="1465290"/>
            <a:ext cx="11496858" cy="24685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8800" b="1" i="0">
                <a:solidFill>
                  <a:schemeClr val="bg1"/>
                </a:solidFill>
                <a:latin typeface="Neue Regrade Semibold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A10AE5B7-EEE8-E541-2ADA-92CD5EB73AB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401" y="63131"/>
            <a:ext cx="2797313" cy="1025894"/>
          </a:xfrm>
          <a:prstGeom prst="rect">
            <a:avLst/>
          </a:prstGeom>
        </p:spPr>
      </p:pic>
      <p:pic>
        <p:nvPicPr>
          <p:cNvPr id="4" name="Picture 8" descr="A white cross in a circle&#10;&#10;Description automatically generated">
            <a:extLst>
              <a:ext uri="{FF2B5EF4-FFF2-40B4-BE49-F238E27FC236}">
                <a16:creationId xmlns:a16="http://schemas.microsoft.com/office/drawing/2014/main" id="{96C94E84-6B07-EE5D-3252-FDA917FD51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3190" y="6615428"/>
            <a:ext cx="83090" cy="120019"/>
          </a:xfrm>
          <a:prstGeom prst="rect">
            <a:avLst/>
          </a:prstGeom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D2D2E62D-58DE-0127-9BF1-001871783BA0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AF5089E5-D0DC-0C2D-DA31-918596F454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963" y="339079"/>
            <a:ext cx="1949019" cy="1000848"/>
          </a:xfrm>
          <a:prstGeom prst="rect">
            <a:avLst/>
          </a:prstGeom>
        </p:spPr>
      </p:pic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03A9CDDE-62FC-0BA2-A397-CE05A445282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0838" y="1916832"/>
            <a:ext cx="11506200" cy="2520231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17984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platzhalter 54">
            <a:extLst>
              <a:ext uri="{FF2B5EF4-FFF2-40B4-BE49-F238E27FC236}">
                <a16:creationId xmlns:a16="http://schemas.microsoft.com/office/drawing/2014/main" id="{9BC8E075-03BC-3AA5-32AB-E8C825BCE1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79863" y="3669318"/>
            <a:ext cx="7246937" cy="432248"/>
          </a:xfrm>
          <a:solidFill>
            <a:srgbClr val="F2F2F2"/>
          </a:solidFill>
        </p:spPr>
        <p:txBody>
          <a:bodyPr vert="horz" lIns="72000" tIns="72000" rIns="72000" bIns="72000" rtlCol="0">
            <a:noAutofit/>
          </a:bodyPr>
          <a:lstStyle>
            <a:lvl1pPr>
              <a:defRPr lang="de-DE" sz="2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 lang="en-GB" err="1"/>
              <a:t>Hier</a:t>
            </a:r>
            <a:r>
              <a:rPr lang="en-GB"/>
              <a:t> Agenda </a:t>
            </a:r>
            <a:r>
              <a:rPr lang="en-GB" err="1"/>
              <a:t>Punkt</a:t>
            </a:r>
            <a:r>
              <a:rPr lang="en-GB"/>
              <a:t> 5 </a:t>
            </a:r>
            <a:r>
              <a:rPr lang="en-GB" err="1"/>
              <a:t>einfügen</a:t>
            </a:r>
            <a:r>
              <a:rPr lang="en-GB"/>
              <a:t>.</a:t>
            </a:r>
            <a:endParaRPr lang="de-DE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EBF19EC3-D44A-3FA6-E34A-74672B15AB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9863" y="3061753"/>
            <a:ext cx="7246937" cy="433388"/>
          </a:xfrm>
          <a:solidFill>
            <a:srgbClr val="F2F2F2"/>
          </a:solidFill>
        </p:spPr>
        <p:txBody>
          <a:bodyPr vert="horz" lIns="72000" tIns="72000" rIns="72000" bIns="72000" rtlCol="0">
            <a:noAutofit/>
          </a:bodyPr>
          <a:lstStyle>
            <a:lvl1pPr marL="0" indent="0">
              <a:buNone/>
              <a:defRPr lang="de-DE" sz="2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Hier</a:t>
            </a:r>
            <a:r>
              <a:rPr lang="en-GB"/>
              <a:t> Agenda </a:t>
            </a:r>
            <a:r>
              <a:rPr lang="en-GB" err="1"/>
              <a:t>Punkt</a:t>
            </a:r>
            <a:r>
              <a:rPr lang="en-GB"/>
              <a:t> 4 </a:t>
            </a:r>
            <a:r>
              <a:rPr lang="en-GB" err="1"/>
              <a:t>einfügen</a:t>
            </a:r>
            <a:r>
              <a:rPr lang="en-GB"/>
              <a:t>.</a:t>
            </a:r>
            <a:endParaRPr lang="de-DE"/>
          </a:p>
        </p:txBody>
      </p:sp>
      <p:sp>
        <p:nvSpPr>
          <p:cNvPr id="51" name="Textplatzhalter 50">
            <a:extLst>
              <a:ext uri="{FF2B5EF4-FFF2-40B4-BE49-F238E27FC236}">
                <a16:creationId xmlns:a16="http://schemas.microsoft.com/office/drawing/2014/main" id="{478F100F-B203-A785-78B3-D76BDA1AA9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79863" y="2485491"/>
            <a:ext cx="7246937" cy="431800"/>
          </a:xfrm>
          <a:solidFill>
            <a:srgbClr val="F2F2F2"/>
          </a:solidFill>
        </p:spPr>
        <p:txBody>
          <a:bodyPr/>
          <a:lstStyle>
            <a:lvl1pPr marL="0" indent="0">
              <a:buNone/>
              <a:defRPr lang="de-DE" sz="2200" b="0" i="0" kern="120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Hier</a:t>
            </a:r>
            <a:r>
              <a:rPr lang="en-GB"/>
              <a:t> Agenda </a:t>
            </a:r>
            <a:r>
              <a:rPr lang="en-GB" err="1"/>
              <a:t>Punkt</a:t>
            </a:r>
            <a:r>
              <a:rPr lang="en-GB"/>
              <a:t> 3 </a:t>
            </a:r>
            <a:r>
              <a:rPr lang="en-GB" err="1"/>
              <a:t>einfügen</a:t>
            </a:r>
            <a:r>
              <a:rPr lang="en-GB"/>
              <a:t>.</a:t>
            </a:r>
            <a:endParaRPr lang="de-DE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C6A695CC-2AD5-BA83-C96C-80F2C9C3E9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9467" y="1315606"/>
            <a:ext cx="7247329" cy="428522"/>
          </a:xfrm>
          <a:prstGeom prst="rect">
            <a:avLst/>
          </a:prstGeom>
          <a:solidFill>
            <a:srgbClr val="F2F2F2"/>
          </a:solidFill>
        </p:spPr>
        <p:txBody>
          <a:bodyPr lIns="72000" rIns="72000" anchor="ctr" anchorCtr="0">
            <a:noAutofit/>
          </a:bodyPr>
          <a:lstStyle>
            <a:lvl1pPr algn="l">
              <a:defRPr sz="2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err="1"/>
              <a:t>Hier</a:t>
            </a:r>
            <a:r>
              <a:rPr lang="en-GB"/>
              <a:t> Agenda </a:t>
            </a:r>
            <a:r>
              <a:rPr lang="en-GB" err="1"/>
              <a:t>Punkt</a:t>
            </a:r>
            <a:r>
              <a:rPr lang="en-GB"/>
              <a:t> 1 </a:t>
            </a:r>
            <a:r>
              <a:rPr lang="en-GB" err="1"/>
              <a:t>einfügen</a:t>
            </a:r>
            <a:r>
              <a:rPr lang="en-GB"/>
              <a:t>.</a:t>
            </a:r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C213D73-FCDA-81AC-CBC2-B081D12D566D}"/>
              </a:ext>
            </a:extLst>
          </p:cNvPr>
          <p:cNvSpPr txBox="1">
            <a:spLocks/>
          </p:cNvSpPr>
          <p:nvPr/>
        </p:nvSpPr>
        <p:spPr>
          <a:xfrm>
            <a:off x="342050" y="368300"/>
            <a:ext cx="11514987" cy="7207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0422"/>
                </a:solidFill>
                <a:latin typeface="Neue Regrade Semibold" pitchFamily="2" charset="0"/>
                <a:ea typeface="+mj-ea"/>
                <a:cs typeface="+mj-cs"/>
              </a:defRPr>
            </a:lvl1pPr>
          </a:lstStyle>
          <a:p>
            <a:r>
              <a:rPr lang="de-DE" sz="4800"/>
              <a:t>Agenda</a:t>
            </a:r>
            <a:endParaRPr lang="de-DE"/>
          </a:p>
        </p:txBody>
      </p:sp>
      <p:sp>
        <p:nvSpPr>
          <p:cNvPr id="56" name="Textplatzhalter 50">
            <a:extLst>
              <a:ext uri="{FF2B5EF4-FFF2-40B4-BE49-F238E27FC236}">
                <a16:creationId xmlns:a16="http://schemas.microsoft.com/office/drawing/2014/main" id="{D6BD1449-1307-B488-76BF-9BFDB227A3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79467" y="1906645"/>
            <a:ext cx="7246937" cy="431800"/>
          </a:xfrm>
          <a:solidFill>
            <a:srgbClr val="F2F2F2"/>
          </a:solidFill>
        </p:spPr>
        <p:txBody>
          <a:bodyPr/>
          <a:lstStyle>
            <a:lvl1pPr marL="0" indent="0">
              <a:buNone/>
              <a:defRPr lang="de-DE" sz="2200" b="0" i="0" kern="120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Hier</a:t>
            </a:r>
            <a:r>
              <a:rPr lang="en-GB"/>
              <a:t> Agenda </a:t>
            </a:r>
            <a:r>
              <a:rPr lang="en-GB" err="1"/>
              <a:t>Punkt</a:t>
            </a:r>
            <a:r>
              <a:rPr lang="en-GB"/>
              <a:t> 2 </a:t>
            </a:r>
            <a:r>
              <a:rPr lang="en-GB" err="1"/>
              <a:t>einfügen</a:t>
            </a:r>
            <a:r>
              <a:rPr lang="en-GB"/>
              <a:t>.</a:t>
            </a:r>
            <a:endParaRPr lang="de-DE"/>
          </a:p>
        </p:txBody>
      </p:sp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124C9149-DC2F-818D-1540-A3020B416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050" y="6610264"/>
            <a:ext cx="1156207" cy="125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8D9B2CBC-16A6-5646-914C-F1FDD04B1DCE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B8BAA6FB-62A0-7A41-EC9A-C6452091D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7401" y="6610264"/>
            <a:ext cx="812339" cy="130347"/>
          </a:xfrm>
          <a:prstGeom prst="rect">
            <a:avLst/>
          </a:prstGeom>
        </p:spPr>
        <p:txBody>
          <a:bodyPr vert="horz" lIns="0" tIns="0" rIns="7200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1408C-CDC3-8946-9F8C-D3ABB5939B4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95AAC5-10A7-AAA7-5E35-C5AB023382D4}"/>
              </a:ext>
            </a:extLst>
          </p:cNvPr>
          <p:cNvSpPr txBox="1">
            <a:spLocks/>
          </p:cNvSpPr>
          <p:nvPr userDrawn="1"/>
        </p:nvSpPr>
        <p:spPr>
          <a:xfrm>
            <a:off x="342050" y="368300"/>
            <a:ext cx="11514987" cy="5762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0422"/>
                </a:solidFill>
                <a:latin typeface="Neue Regrade Semibold" pitchFamily="2" charset="0"/>
                <a:ea typeface="+mj-ea"/>
                <a:cs typeface="+mj-cs"/>
              </a:defRPr>
            </a:lvl1pPr>
          </a:lstStyle>
          <a:p>
            <a:r>
              <a:rPr lang="de-DE" sz="4800"/>
              <a:t>Agenda</a:t>
            </a:r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8000250-912D-1C69-98F0-46B4AA765C03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143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D96F-93CA-7CFA-7E0B-88CA9ACD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65" y="1304925"/>
            <a:ext cx="8569823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26880-DDC8-47B1-E72F-7818FF32B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279" y="6610264"/>
            <a:ext cx="1163295" cy="130347"/>
          </a:xfrm>
        </p:spPr>
        <p:txBody>
          <a:bodyPr lIns="0" tIns="0" rIns="0" bIns="0"/>
          <a:lstStyle/>
          <a:p>
            <a:fld id="{94D54205-827B-1E4D-B0E4-4719B0156B80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167CA-833F-1680-1250-A98E19E2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72000" bIns="0"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F5ABC79-BC3A-8649-AC0F-2C264AE9C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4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9EC3E8CB-01BD-C65F-F9F8-3E761418CD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4226D80-AC5B-EDD0-7F98-0566EE736F8F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7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CA87-634B-1FA0-3D46-96E18D2C3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DC1B-68F3-43FD-8DB8-B6F4BA6958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051" y="1304925"/>
            <a:ext cx="5609487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</a:t>
            </a:r>
            <a:r>
              <a:rPr lang="de-DE" noProof="0" dirty="0" err="1"/>
              <a:t>text</a:t>
            </a:r>
            <a:r>
              <a:rPr lang="de-DE" noProof="0" dirty="0"/>
              <a:t> </a:t>
            </a:r>
            <a:r>
              <a:rPr lang="de-DE" noProof="0" dirty="0" err="1"/>
              <a:t>styles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27021-07A4-5A44-4577-1DF03476562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3" y="1304925"/>
            <a:ext cx="5609485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ED21-0C57-9777-0B7C-9F2FCC7E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F796A-1504-8E44-9823-06A3F0C65C29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650C-2E29-6F29-BF53-75CB4C84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267DD26-179D-F755-3BE7-D405C3D9FA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</p:spTree>
    <p:extLst>
      <p:ext uri="{BB962C8B-B14F-4D97-AF65-F5344CB8AC3E}">
        <p14:creationId xmlns:p14="http://schemas.microsoft.com/office/powerpoint/2010/main" val="606152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45D8A-FFA2-87B0-1913-10C0C45024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4963" y="1315511"/>
            <a:ext cx="5609488" cy="337078"/>
          </a:xfrm>
        </p:spPr>
        <p:txBody>
          <a:bodyPr lIns="72000" tIns="0" rIns="72000" bIns="0" anchor="t" anchorCtr="0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4D744-1C18-E2A9-D82C-48D69575259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7761" y="1957524"/>
            <a:ext cx="5596689" cy="4171814"/>
          </a:xfrm>
        </p:spPr>
        <p:txBody>
          <a:bodyPr lIns="72000"/>
          <a:lstStyle>
            <a:lvl1pPr>
              <a:buClr>
                <a:schemeClr val="accent6"/>
              </a:buCl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BC294-7C31-A077-344C-C3BBD8FC2DB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47552" y="1963844"/>
            <a:ext cx="5602398" cy="416549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0E137-1209-4D00-4B02-3D7A148F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CB35-1AB7-AF40-9C0E-6950B6A57315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317BE-7C4E-7F77-0704-AE3F8A8A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ED4722D-646F-6357-BF02-E840A2F817E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40462" y="1314378"/>
            <a:ext cx="5609488" cy="337078"/>
          </a:xfrm>
        </p:spPr>
        <p:txBody>
          <a:bodyPr lIns="72000" tIns="0" rIns="72000" bIns="0" anchor="t" anchorCtr="0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74E8F51F-9487-C788-E23D-2851C1B475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752400B-2451-A586-9431-BE1372CA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9F98EEF-1756-A753-B0FF-62F1804DC619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9127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EFC2125-A0E4-737D-E434-7A9AEBFC1F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313" y="1304925"/>
            <a:ext cx="3646800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5D8CB-A54A-2015-E7AA-C37B9873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050" y="6610264"/>
            <a:ext cx="1156207" cy="125183"/>
          </a:xfrm>
        </p:spPr>
        <p:txBody>
          <a:bodyPr/>
          <a:lstStyle/>
          <a:p>
            <a:fld id="{0CB81D49-AF8E-1542-BE91-53AA5E471BD0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86412-7A35-0515-2CB2-09BA45B1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7401" y="6610264"/>
            <a:ext cx="812339" cy="130347"/>
          </a:xfrm>
        </p:spPr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25D1C14E-EEA9-C443-C8AC-5F47753169E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995B459-B8D4-CFD2-5E28-170377763D1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72600" y="1304925"/>
            <a:ext cx="3646800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B0A5DFA-40A4-C386-1BEF-4328FF74CA0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203889" y="1304925"/>
            <a:ext cx="3646800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3091F65-4902-25C2-47D1-4AD98A75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DAE8EA8-6A5A-3ED0-9E86-8AA45B18DD55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06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171C4-215D-8E69-8D33-7ECDD48A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5A6C-F4B7-484A-AE3B-C68D3B1785F2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B04A1-4BE5-5346-016A-B0F73988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E6B74B6-3C56-9742-DCFB-ACB9EB8D0D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5360" y="1304925"/>
            <a:ext cx="2658323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B4A8D06-CE41-C101-094A-FB4A6D83BA3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87714" y="1304925"/>
            <a:ext cx="2658324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A50AAD-17B8-FF29-AD70-1DEB37641DC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964" y="1304925"/>
            <a:ext cx="2658324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FD122F45-6AB6-5643-417E-2AD9128C73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BE5BAF5-C6F6-8D41-3CA0-0FEB81DCEBD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192344" y="1304925"/>
            <a:ext cx="2658324" cy="4824413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04B51A9-F186-FE25-C741-4E2AA03F09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432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CA87-634B-1FA0-3D46-96E18D2C3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7481056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DC1B-68F3-43FD-8DB8-B6F4BA6958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051" y="1304925"/>
            <a:ext cx="7481793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ED21-0C57-9777-0B7C-9F2FCC7E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8FAF-FFDA-6B42-B51C-65EC959B7FC7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650C-2E29-6F29-BF53-75CB4C84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267DD26-179D-F755-3BE7-D405C3D9FA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72F3497-D551-D145-6B90-82EE7186B8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12640" y="368300"/>
            <a:ext cx="3744000" cy="576103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198226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CA87-634B-1FA0-3D46-96E18D2C3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5608934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DC1B-68F3-43FD-8DB8-B6F4BA6958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051" y="1304925"/>
            <a:ext cx="5609487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ED21-0C57-9777-0B7C-9F2FCC7E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9EC9-BB6C-F843-8F22-1EE91ACAD581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650C-2E29-6F29-BF53-75CB4C84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267DD26-179D-F755-3BE7-D405C3D9FA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72F3497-D551-D145-6B90-82EE7186B8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7153" y="368300"/>
            <a:ext cx="5609487" cy="576103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932800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CA87-634B-1FA0-3D46-96E18D2C3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3740400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DC1B-68F3-43FD-8DB8-B6F4BA6958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051" y="1304925"/>
            <a:ext cx="3740400" cy="4824414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ED21-0C57-9777-0B7C-9F2FCC7E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FD46D-E0E9-7145-8C2A-378973F175CE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650C-2E29-6F29-BF53-75CB4C84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267DD26-179D-F755-3BE7-D405C3D9FA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72F3497-D551-D145-6B90-82EE7186B8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9317" y="368300"/>
            <a:ext cx="7467324" cy="576103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1333403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Bilder und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CA87-634B-1FA0-3D46-96E18D2C3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DC1B-68F3-43FD-8DB8-B6F4BA6958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051" y="3860801"/>
            <a:ext cx="5609487" cy="2268538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27021-07A4-5A44-4577-1DF03476562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3" y="3860799"/>
            <a:ext cx="5609485" cy="2268539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ED21-0C57-9777-0B7C-9F2FCC7E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BDC3-3BFD-934B-93B9-6902BE212FE8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650C-2E29-6F29-BF53-75CB4C84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267DD26-179D-F755-3BE7-D405C3D9FA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D4B7576F-2535-74F0-AD43-9CF45DFFF4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313" y="1304925"/>
            <a:ext cx="5609484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62F8B05-180E-FA3A-2AEC-DAAD8181C9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7554" y="1304925"/>
            <a:ext cx="5609484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22777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Bilder und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EFC2125-A0E4-737D-E434-7A9AEBFC1F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313" y="3860800"/>
            <a:ext cx="3646800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5D8CB-A54A-2015-E7AA-C37B9873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050" y="6610264"/>
            <a:ext cx="1156207" cy="125183"/>
          </a:xfrm>
        </p:spPr>
        <p:txBody>
          <a:bodyPr/>
          <a:lstStyle/>
          <a:p>
            <a:fld id="{497AEB99-6E7A-424A-B182-20A36B88C9D1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86412-7A35-0515-2CB2-09BA45B1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7401" y="6610264"/>
            <a:ext cx="812339" cy="130347"/>
          </a:xfrm>
        </p:spPr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25D1C14E-EEA9-C443-C8AC-5F47753169E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995B459-B8D4-CFD2-5E28-170377763D1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72600" y="3860800"/>
            <a:ext cx="3646800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B0A5DFA-40A4-C386-1BEF-4328FF74CA0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203889" y="3860800"/>
            <a:ext cx="3646800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1F197ACB-1097-29C2-A1B4-289820E5D5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313" y="1304925"/>
            <a:ext cx="3646800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AAFEDA63-7EBD-03ED-BBBD-9B0388A34E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2600" y="1304926"/>
            <a:ext cx="3646800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Bildplatzhalter 9">
            <a:extLst>
              <a:ext uri="{FF2B5EF4-FFF2-40B4-BE49-F238E27FC236}">
                <a16:creationId xmlns:a16="http://schemas.microsoft.com/office/drawing/2014/main" id="{20EA3638-74FE-5333-810A-FC8F60ADFE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03887" y="1304924"/>
            <a:ext cx="3646800" cy="226853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878CC0-F2A5-CA78-A168-0578FDFD4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451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Bilder und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171C4-215D-8E69-8D33-7ECDD48A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AF87-73F8-E54D-B5C0-95A704CA7A20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B04A1-4BE5-5346-016A-B0F73988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E6B74B6-3C56-9742-DCFB-ACB9EB8D0D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5360" y="3860801"/>
            <a:ext cx="2658323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B4A8D06-CE41-C101-094A-FB4A6D83BA3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87714" y="3860800"/>
            <a:ext cx="2658324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A50AAD-17B8-FF29-AD70-1DEB37641DC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964" y="3860800"/>
            <a:ext cx="2658324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FD122F45-6AB6-5643-417E-2AD9128C73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BE5BAF5-C6F6-8D41-3CA0-0FEB81DCEBD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192344" y="3860800"/>
            <a:ext cx="2658324" cy="2268537"/>
          </a:xfrm>
        </p:spPr>
        <p:txBody>
          <a:bodyPr lIns="72000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/>
              <a:t>Click </a:t>
            </a:r>
            <a:r>
              <a:rPr lang="de-DE" noProof="0" err="1"/>
              <a:t>to</a:t>
            </a:r>
            <a:r>
              <a:rPr lang="de-DE" noProof="0"/>
              <a:t> </a:t>
            </a:r>
            <a:r>
              <a:rPr lang="de-DE" noProof="0" err="1"/>
              <a:t>edit</a:t>
            </a:r>
            <a:r>
              <a:rPr lang="de-DE" noProof="0"/>
              <a:t>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70030DD5-8ABE-2DE3-9872-906D5676800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313" y="1304925"/>
            <a:ext cx="2659062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Bildplatzhalter 9">
            <a:extLst>
              <a:ext uri="{FF2B5EF4-FFF2-40B4-BE49-F238E27FC236}">
                <a16:creationId xmlns:a16="http://schemas.microsoft.com/office/drawing/2014/main" id="{8E346A66-9099-8C11-B057-8979CEF976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97966" y="1304925"/>
            <a:ext cx="2659062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62F84503-3B71-BF1A-1D21-4B24471B8D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0463" y="1304925"/>
            <a:ext cx="2659062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B8A39F0E-4481-9A15-51EF-D35A592BE3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04807" y="1304925"/>
            <a:ext cx="2659062" cy="226853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01F605-6234-6FC2-64CA-B8B7EF5FE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40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124C9149-DC2F-818D-1540-A3020B416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050" y="6610264"/>
            <a:ext cx="1156207" cy="125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5D14BAC1-601C-9343-834D-E72456BBCE83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B8BAA6FB-62A0-7A41-EC9A-C6452091D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7401" y="6610264"/>
            <a:ext cx="812339" cy="130347"/>
          </a:xfrm>
          <a:prstGeom prst="rect">
            <a:avLst/>
          </a:prstGeom>
        </p:spPr>
        <p:txBody>
          <a:bodyPr vert="horz" lIns="0" tIns="0" rIns="7200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1408C-CDC3-8946-9F8C-D3ABB5939B4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4400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 Folie 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124C9149-DC2F-818D-1540-A3020B416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050" y="6610264"/>
            <a:ext cx="1156207" cy="125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11D77C4F-751B-0A4A-81CC-955CDA76E7F0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B8BAA6FB-62A0-7A41-EC9A-C6452091D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7401" y="6610264"/>
            <a:ext cx="812339" cy="130347"/>
          </a:xfrm>
          <a:prstGeom prst="rect">
            <a:avLst/>
          </a:prstGeom>
        </p:spPr>
        <p:txBody>
          <a:bodyPr vert="horz" lIns="0" tIns="0" rIns="7200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1408C-CDC3-8946-9F8C-D3ABB5939B4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Inhaltsplatzhalter 10">
            <a:extLst>
              <a:ext uri="{FF2B5EF4-FFF2-40B4-BE49-F238E27FC236}">
                <a16:creationId xmlns:a16="http://schemas.microsoft.com/office/drawing/2014/main" id="{CB39926A-B088-C002-C3AC-64DF85DDCE1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1313" y="6231468"/>
            <a:ext cx="11515725" cy="203200"/>
          </a:xfrm>
        </p:spPr>
        <p:txBody>
          <a:bodyPr lIns="0" tIns="0" rIns="0" bIns="0" anchor="ctr" anchorCtr="0"/>
          <a:lstStyle>
            <a:lvl1pPr marL="0" indent="0">
              <a:buNone/>
              <a:defRPr sz="700"/>
            </a:lvl1pPr>
          </a:lstStyle>
          <a:p>
            <a:pPr lvl="0"/>
            <a:r>
              <a:rPr lang="de-DE"/>
              <a:t>Quellenangaben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7613F5-1982-47E4-F87C-FC49F93B2E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050" y="370663"/>
            <a:ext cx="11514988" cy="573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F2DC722-7CE0-55B5-62E2-8C79525CCE09}"/>
              </a:ext>
            </a:extLst>
          </p:cNvPr>
          <p:cNvSpPr txBox="1"/>
          <p:nvPr userDrawn="1"/>
        </p:nvSpPr>
        <p:spPr>
          <a:xfrm>
            <a:off x="11851644" y="6488668"/>
            <a:ext cx="340355" cy="369332"/>
          </a:xfrm>
          <a:prstGeom prst="rect">
            <a:avLst/>
          </a:prstGeom>
          <a:solidFill>
            <a:srgbClr val="015077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5943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6D0789-C7FA-F17E-129A-7414F193B40E}"/>
              </a:ext>
            </a:extLst>
          </p:cNvPr>
          <p:cNvSpPr/>
          <p:nvPr/>
        </p:nvSpPr>
        <p:spPr>
          <a:xfrm rot="10800000">
            <a:off x="9754979" y="5614664"/>
            <a:ext cx="2437021" cy="1243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6CA8B6-BC03-6CBA-005A-DF4905B35512}"/>
              </a:ext>
            </a:extLst>
          </p:cNvPr>
          <p:cNvSpPr/>
          <p:nvPr/>
        </p:nvSpPr>
        <p:spPr>
          <a:xfrm rot="10800000">
            <a:off x="7307612" y="5614664"/>
            <a:ext cx="2447367" cy="12433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A9438-E5C3-7AAC-DBB0-CF09D98F4718}"/>
              </a:ext>
            </a:extLst>
          </p:cNvPr>
          <p:cNvSpPr/>
          <p:nvPr/>
        </p:nvSpPr>
        <p:spPr>
          <a:xfrm rot="10800000">
            <a:off x="2433570" y="5614664"/>
            <a:ext cx="2437021" cy="1243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B651AD-4ABE-191C-9120-013DD94BC561}"/>
              </a:ext>
            </a:extLst>
          </p:cNvPr>
          <p:cNvSpPr/>
          <p:nvPr/>
        </p:nvSpPr>
        <p:spPr>
          <a:xfrm rot="10800000">
            <a:off x="0" y="5614664"/>
            <a:ext cx="2437021" cy="12433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8574E-6BF7-17AF-8D9E-85AD90AF6D83}"/>
              </a:ext>
            </a:extLst>
          </p:cNvPr>
          <p:cNvSpPr/>
          <p:nvPr/>
        </p:nvSpPr>
        <p:spPr>
          <a:xfrm rot="10800000">
            <a:off x="4860245" y="5614664"/>
            <a:ext cx="2447367" cy="1243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" name="Picture 19" descr="A white cross in a circle&#10;&#10;Description automatically generated">
            <a:extLst>
              <a:ext uri="{FF2B5EF4-FFF2-40B4-BE49-F238E27FC236}">
                <a16:creationId xmlns:a16="http://schemas.microsoft.com/office/drawing/2014/main" id="{5D83754D-46C5-9602-66FF-EB81FFBC43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47723" y="6615428"/>
            <a:ext cx="83090" cy="120019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0B5E86-9F19-6624-88A0-E501EB926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04925"/>
            <a:ext cx="11512550" cy="2124075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/>
              <a:t>Ende Präsentation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FFF0EBC-CD0C-8869-D13D-5D4F966BB157}"/>
              </a:ext>
            </a:extLst>
          </p:cNvPr>
          <p:cNvSpPr/>
          <p:nvPr userDrawn="1"/>
        </p:nvSpPr>
        <p:spPr>
          <a:xfrm rot="10800000">
            <a:off x="9754979" y="5614664"/>
            <a:ext cx="2437021" cy="1243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DF0E4F1-0A71-FB47-9465-CA8EE7EBC21F}"/>
              </a:ext>
            </a:extLst>
          </p:cNvPr>
          <p:cNvSpPr/>
          <p:nvPr userDrawn="1"/>
        </p:nvSpPr>
        <p:spPr>
          <a:xfrm rot="10800000">
            <a:off x="7307612" y="5614664"/>
            <a:ext cx="2447367" cy="12433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05A976D-8894-6070-09F9-F09A284DCBE0}"/>
              </a:ext>
            </a:extLst>
          </p:cNvPr>
          <p:cNvSpPr/>
          <p:nvPr userDrawn="1"/>
        </p:nvSpPr>
        <p:spPr>
          <a:xfrm rot="10800000">
            <a:off x="2433570" y="5614664"/>
            <a:ext cx="2437021" cy="1243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4E2D2E82-26A0-0A93-D71B-421742418C3D}"/>
              </a:ext>
            </a:extLst>
          </p:cNvPr>
          <p:cNvSpPr/>
          <p:nvPr userDrawn="1"/>
        </p:nvSpPr>
        <p:spPr>
          <a:xfrm rot="10800000">
            <a:off x="0" y="5614664"/>
            <a:ext cx="2437021" cy="12433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E839EF7-A1A5-7979-7321-4617BB98D4F0}"/>
              </a:ext>
            </a:extLst>
          </p:cNvPr>
          <p:cNvSpPr/>
          <p:nvPr userDrawn="1"/>
        </p:nvSpPr>
        <p:spPr>
          <a:xfrm rot="10800000">
            <a:off x="4860245" y="5614664"/>
            <a:ext cx="2447367" cy="1243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864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2BDE-3BDA-5A14-5A6C-5D4AF7A3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2FAC-2C51-EA46-BCA0-73109BB89253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4E785-6DA8-7D4D-4661-6EBB42A8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462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5325D92-B1AD-4E92-A6CD-EAFC4771DD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31EF77C2-4058-494F-971A-1760D15A255E}"/>
              </a:ext>
            </a:extLst>
          </p:cNvPr>
          <p:cNvSpPr>
            <a:spLocks noEditPoints="1"/>
          </p:cNvSpPr>
          <p:nvPr userDrawn="1"/>
        </p:nvSpPr>
        <p:spPr bwMode="auto">
          <a:xfrm rot="410460">
            <a:off x="9979306" y="5432579"/>
            <a:ext cx="1447972" cy="806527"/>
          </a:xfrm>
          <a:custGeom>
            <a:avLst/>
            <a:gdLst>
              <a:gd name="T0" fmla="*/ 0 w 1622"/>
              <a:gd name="T1" fmla="*/ 540 h 901"/>
              <a:gd name="T2" fmla="*/ 180 w 1622"/>
              <a:gd name="T3" fmla="*/ 540 h 901"/>
              <a:gd name="T4" fmla="*/ 180 w 1622"/>
              <a:gd name="T5" fmla="*/ 360 h 901"/>
              <a:gd name="T6" fmla="*/ 0 w 1622"/>
              <a:gd name="T7" fmla="*/ 360 h 901"/>
              <a:gd name="T8" fmla="*/ 0 w 1622"/>
              <a:gd name="T9" fmla="*/ 540 h 901"/>
              <a:gd name="T10" fmla="*/ 0 w 1622"/>
              <a:gd name="T11" fmla="*/ 901 h 901"/>
              <a:gd name="T12" fmla="*/ 180 w 1622"/>
              <a:gd name="T13" fmla="*/ 901 h 901"/>
              <a:gd name="T14" fmla="*/ 180 w 1622"/>
              <a:gd name="T15" fmla="*/ 721 h 901"/>
              <a:gd name="T16" fmla="*/ 0 w 1622"/>
              <a:gd name="T17" fmla="*/ 721 h 901"/>
              <a:gd name="T18" fmla="*/ 0 w 1622"/>
              <a:gd name="T19" fmla="*/ 901 h 901"/>
              <a:gd name="T20" fmla="*/ 0 w 1622"/>
              <a:gd name="T21" fmla="*/ 180 h 901"/>
              <a:gd name="T22" fmla="*/ 180 w 1622"/>
              <a:gd name="T23" fmla="*/ 180 h 901"/>
              <a:gd name="T24" fmla="*/ 180 w 1622"/>
              <a:gd name="T25" fmla="*/ 0 h 901"/>
              <a:gd name="T26" fmla="*/ 0 w 1622"/>
              <a:gd name="T27" fmla="*/ 0 h 901"/>
              <a:gd name="T28" fmla="*/ 0 w 1622"/>
              <a:gd name="T29" fmla="*/ 180 h 901"/>
              <a:gd name="T30" fmla="*/ 360 w 1622"/>
              <a:gd name="T31" fmla="*/ 540 h 901"/>
              <a:gd name="T32" fmla="*/ 1622 w 1622"/>
              <a:gd name="T33" fmla="*/ 540 h 901"/>
              <a:gd name="T34" fmla="*/ 1622 w 1622"/>
              <a:gd name="T35" fmla="*/ 360 h 901"/>
              <a:gd name="T36" fmla="*/ 360 w 1622"/>
              <a:gd name="T37" fmla="*/ 360 h 901"/>
              <a:gd name="T38" fmla="*/ 360 w 1622"/>
              <a:gd name="T39" fmla="*/ 540 h 901"/>
              <a:gd name="T40" fmla="*/ 360 w 1622"/>
              <a:gd name="T41" fmla="*/ 901 h 901"/>
              <a:gd name="T42" fmla="*/ 1622 w 1622"/>
              <a:gd name="T43" fmla="*/ 901 h 901"/>
              <a:gd name="T44" fmla="*/ 1622 w 1622"/>
              <a:gd name="T45" fmla="*/ 721 h 901"/>
              <a:gd name="T46" fmla="*/ 360 w 1622"/>
              <a:gd name="T47" fmla="*/ 721 h 901"/>
              <a:gd name="T48" fmla="*/ 360 w 1622"/>
              <a:gd name="T49" fmla="*/ 901 h 901"/>
              <a:gd name="T50" fmla="*/ 360 w 1622"/>
              <a:gd name="T51" fmla="*/ 0 h 901"/>
              <a:gd name="T52" fmla="*/ 360 w 1622"/>
              <a:gd name="T53" fmla="*/ 180 h 901"/>
              <a:gd name="T54" fmla="*/ 1622 w 1622"/>
              <a:gd name="T55" fmla="*/ 180 h 901"/>
              <a:gd name="T56" fmla="*/ 1622 w 1622"/>
              <a:gd name="T57" fmla="*/ 0 h 901"/>
              <a:gd name="T58" fmla="*/ 360 w 1622"/>
              <a:gd name="T59" fmla="*/ 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622" h="901">
                <a:moveTo>
                  <a:pt x="0" y="540"/>
                </a:moveTo>
                <a:lnTo>
                  <a:pt x="180" y="540"/>
                </a:lnTo>
                <a:lnTo>
                  <a:pt x="180" y="360"/>
                </a:lnTo>
                <a:lnTo>
                  <a:pt x="0" y="360"/>
                </a:lnTo>
                <a:lnTo>
                  <a:pt x="0" y="540"/>
                </a:lnTo>
                <a:close/>
                <a:moveTo>
                  <a:pt x="0" y="901"/>
                </a:moveTo>
                <a:lnTo>
                  <a:pt x="180" y="901"/>
                </a:lnTo>
                <a:lnTo>
                  <a:pt x="180" y="721"/>
                </a:lnTo>
                <a:lnTo>
                  <a:pt x="0" y="721"/>
                </a:lnTo>
                <a:lnTo>
                  <a:pt x="0" y="901"/>
                </a:lnTo>
                <a:close/>
                <a:moveTo>
                  <a:pt x="0" y="180"/>
                </a:moveTo>
                <a:lnTo>
                  <a:pt x="180" y="180"/>
                </a:lnTo>
                <a:lnTo>
                  <a:pt x="180" y="0"/>
                </a:lnTo>
                <a:lnTo>
                  <a:pt x="0" y="0"/>
                </a:lnTo>
                <a:lnTo>
                  <a:pt x="0" y="180"/>
                </a:lnTo>
                <a:close/>
                <a:moveTo>
                  <a:pt x="360" y="540"/>
                </a:moveTo>
                <a:lnTo>
                  <a:pt x="1622" y="540"/>
                </a:lnTo>
                <a:lnTo>
                  <a:pt x="1622" y="360"/>
                </a:lnTo>
                <a:lnTo>
                  <a:pt x="360" y="360"/>
                </a:lnTo>
                <a:lnTo>
                  <a:pt x="360" y="540"/>
                </a:lnTo>
                <a:close/>
                <a:moveTo>
                  <a:pt x="360" y="901"/>
                </a:moveTo>
                <a:lnTo>
                  <a:pt x="1622" y="901"/>
                </a:lnTo>
                <a:lnTo>
                  <a:pt x="1622" y="721"/>
                </a:lnTo>
                <a:lnTo>
                  <a:pt x="360" y="721"/>
                </a:lnTo>
                <a:lnTo>
                  <a:pt x="360" y="901"/>
                </a:lnTo>
                <a:close/>
                <a:moveTo>
                  <a:pt x="360" y="0"/>
                </a:moveTo>
                <a:lnTo>
                  <a:pt x="360" y="180"/>
                </a:lnTo>
                <a:lnTo>
                  <a:pt x="1622" y="180"/>
                </a:lnTo>
                <a:lnTo>
                  <a:pt x="1622" y="0"/>
                </a:lnTo>
                <a:lnTo>
                  <a:pt x="3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625519"/>
            <a:endParaRPr lang="en-US" sz="2400">
              <a:solidFill>
                <a:srgbClr val="1F497D"/>
              </a:solidFill>
              <a:latin typeface="Arial"/>
            </a:endParaRP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9D69CBA6-AA27-594D-BA07-9FF51531D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68" y="2105298"/>
            <a:ext cx="8909141" cy="2208657"/>
          </a:xfrm>
          <a:solidFill>
            <a:schemeClr val="accent2"/>
          </a:solidFill>
        </p:spPr>
        <p:txBody>
          <a:bodyPr lIns="0" tIns="144000" rIns="144000" bIns="144000"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de-DE"/>
              <a:t>Hier kommt Text rein!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AC847BF4-FA8F-E541-AF21-C0101DA0A3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068" y="332363"/>
            <a:ext cx="2208245" cy="1440572"/>
          </a:xfrm>
          <a:noFill/>
        </p:spPr>
        <p:txBody>
          <a:bodyPr lIns="0" tIns="144000" rIns="144000" bIns="144000" anchor="ctr">
            <a:normAutofit/>
          </a:bodyPr>
          <a:lstStyle>
            <a:lvl1pPr>
              <a:defRPr sz="10666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de-D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221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12B3483B-EC72-0C7C-AFC0-52FE89532021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2D624109-DEDE-C033-7058-A58EB79A23C2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41200" y="6602239"/>
            <a:ext cx="180000" cy="14123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4B9C-7BC1-6769-1844-611F9335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51" y="368300"/>
            <a:ext cx="11512760" cy="5793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hinzufügen</a:t>
            </a:r>
            <a:br>
              <a:rPr lang="en-GB"/>
            </a:b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38BE4-83CA-587D-5733-275057570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304925"/>
            <a:ext cx="11512759" cy="4824413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3BA9-A479-CA24-A12D-E212B5514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050" y="6610264"/>
            <a:ext cx="1156207" cy="125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CD0BC7C4-CAA6-584F-9952-A0055FBAAF78}" type="datetime4">
              <a:rPr lang="de-DE" smtClean="0"/>
              <a:t>24. Oktober 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2D900-8172-589B-5691-0DA4E5114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5147" y="6610264"/>
            <a:ext cx="9305365" cy="13034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Arbeiten mit Standardsoftware im Versicherungsbereich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87E2-552E-0893-0B1F-A2E666744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7401" y="6610264"/>
            <a:ext cx="812339" cy="130347"/>
          </a:xfrm>
          <a:prstGeom prst="rect">
            <a:avLst/>
          </a:prstGeom>
        </p:spPr>
        <p:txBody>
          <a:bodyPr vert="horz" lIns="0" tIns="0" rIns="7200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1408C-CDC3-8946-9F8C-D3ABB5939B4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21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3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rgbClr val="000422"/>
          </a:solidFill>
          <a:latin typeface="Neue Regrade Semibold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Wingdings" pitchFamily="2" charset="2"/>
        <a:buChar char="§"/>
        <a:defRPr sz="1600" b="0" i="0" kern="1200">
          <a:solidFill>
            <a:srgbClr val="000422"/>
          </a:solidFill>
          <a:latin typeface="+mn-lt"/>
          <a:ea typeface="+mn-ea"/>
          <a:cs typeface="+mn-cs"/>
        </a:defRPr>
      </a:lvl1pPr>
      <a:lvl2pPr marL="5778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Symbol" pitchFamily="2" charset="2"/>
        <a:buChar char="-"/>
        <a:defRPr sz="1600" b="0" i="0" kern="1200">
          <a:solidFill>
            <a:srgbClr val="000422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itchFamily="2" charset="2"/>
        <a:buChar char="-"/>
        <a:defRPr sz="1600" b="0" i="0" kern="1200">
          <a:solidFill>
            <a:srgbClr val="000422"/>
          </a:solidFill>
          <a:latin typeface="+mn-lt"/>
          <a:ea typeface="+mn-ea"/>
          <a:cs typeface="+mn-cs"/>
        </a:defRPr>
      </a:lvl3pPr>
      <a:lvl4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+mj-lt"/>
        <a:buAutoNum type="arabicPeriod"/>
        <a:defRPr sz="1600" b="0" i="0" kern="1200">
          <a:solidFill>
            <a:srgbClr val="000422"/>
          </a:solidFill>
          <a:latin typeface="+mn-lt"/>
          <a:ea typeface="+mn-ea"/>
          <a:cs typeface="+mn-cs"/>
        </a:defRPr>
      </a:lvl4pPr>
      <a:lvl5pPr marL="576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+mj-lt"/>
        <a:buAutoNum type="alphaLcPeriod"/>
        <a:defRPr sz="1600" b="0" i="0" kern="1200">
          <a:solidFill>
            <a:srgbClr val="00042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1200"/>
        </a:spcAft>
        <a:buFont typeface="Arial" panose="020B0604020202020204" pitchFamily="34" charset="0"/>
        <a:buNone/>
        <a:defRPr sz="1600" b="1" kern="1200">
          <a:solidFill>
            <a:srgbClr val="013C5A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orient="horz" pos="595">
          <p15:clr>
            <a:srgbClr val="F26B43"/>
          </p15:clr>
        </p15:guide>
        <p15:guide id="4" orient="horz" pos="3861">
          <p15:clr>
            <a:srgbClr val="F26B43"/>
          </p15:clr>
        </p15:guide>
        <p15:guide id="5" orient="horz" pos="822">
          <p15:clr>
            <a:srgbClr val="F26B43"/>
          </p15:clr>
        </p15:guide>
        <p15:guide id="6" orient="horz" pos="2251">
          <p15:clr>
            <a:srgbClr val="F26B43"/>
          </p15:clr>
        </p15:guide>
        <p15:guide id="7" orient="horz" pos="2432">
          <p15:clr>
            <a:srgbClr val="F26B43"/>
          </p15:clr>
        </p15:guide>
        <p15:guide id="8" pos="211">
          <p15:clr>
            <a:srgbClr val="F26B43"/>
          </p15:clr>
        </p15:guide>
        <p15:guide id="9" pos="7469">
          <p15:clr>
            <a:srgbClr val="F26B43"/>
          </p15:clr>
        </p15:guide>
        <p15:guide id="10" pos="1890">
          <p15:clr>
            <a:srgbClr val="F26B43"/>
          </p15:clr>
        </p15:guide>
        <p15:guide id="11" pos="2071">
          <p15:clr>
            <a:srgbClr val="F26B43"/>
          </p15:clr>
        </p15:guide>
        <p15:guide id="12" pos="3931">
          <p15:clr>
            <a:srgbClr val="F26B43"/>
          </p15:clr>
        </p15:guide>
        <p15:guide id="13" pos="3749">
          <p15:clr>
            <a:srgbClr val="F26B43"/>
          </p15:clr>
        </p15:guide>
        <p15:guide id="14" pos="5609">
          <p15:clr>
            <a:srgbClr val="F26B43"/>
          </p15:clr>
        </p15:guide>
        <p15:guide id="15" pos="57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4707-38EC-FE9F-BD50-788D6560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3C4359E-1BD7-D188-70D7-C5D117E3A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898" y="475013"/>
            <a:ext cx="7604570" cy="5712031"/>
          </a:xfrm>
        </p:spPr>
        <p:txBody>
          <a:bodyPr/>
          <a:lstStyle/>
          <a:p>
            <a:r>
              <a:rPr lang="de-DE" sz="4000" dirty="0"/>
              <a:t>The forge</a:t>
            </a:r>
            <a:br>
              <a:rPr lang="de-DE" sz="3200" dirty="0"/>
            </a:br>
            <a:br>
              <a:rPr lang="de-DE" sz="3200" dirty="0"/>
            </a:br>
            <a:r>
              <a:rPr lang="de-DE" sz="5400" dirty="0"/>
              <a:t>Idea forge – idea pipeline</a:t>
            </a:r>
            <a:br>
              <a:rPr lang="de-DE" sz="3200" dirty="0"/>
            </a:br>
            <a:br>
              <a:rPr lang="de-DE" sz="2400" dirty="0"/>
            </a:br>
            <a:r>
              <a:rPr lang="de-DE" sz="2400" dirty="0"/>
              <a:t>Uli Stormanns, Gernot Schulmeister</a:t>
            </a:r>
            <a:br>
              <a:rPr lang="de-DE" sz="2400" dirty="0"/>
            </a:br>
            <a:r>
              <a:rPr lang="de-DE" sz="2400" dirty="0"/>
              <a:t>5. to 25. October 2026</a:t>
            </a:r>
            <a:br>
              <a:rPr lang="de-DE" sz="2400" dirty="0"/>
            </a:br>
            <a:br>
              <a:rPr lang="de-DE" sz="2400" dirty="0"/>
            </a:br>
            <a:br>
              <a:rPr lang="de-DE" sz="2400" dirty="0"/>
            </a:br>
            <a:br>
              <a:rPr lang="de-DE" sz="3200" dirty="0"/>
            </a:br>
            <a:endParaRPr lang="de-DE" sz="32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51FD727-4A20-FA5B-B36B-B39E5D2B1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256" y="2225541"/>
            <a:ext cx="2163651" cy="216365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78B8E30-26AC-3E13-19F3-F21DB560A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451" y="177800"/>
            <a:ext cx="2163651" cy="216365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A73F12E-32C3-E270-F2F8-9F8866C78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101" y="4389192"/>
            <a:ext cx="1924552" cy="192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4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31"/>
    </mc:Choice>
    <mc:Fallback xmlns="">
      <p:transition spd="slow" advTm="190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8AB1-CAD0-B94E-E8EE-C83998B8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C7CD104-DF7B-3DAA-3888-8E509BEA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98FF68D4-D4F8-EE07-D551-8335C5B9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dirty="0">
                <a:effectLst/>
              </a:rPr>
              <a:t>The problem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96CB1E-9AC1-CB55-5659-C90403377679}"/>
              </a:ext>
            </a:extLst>
          </p:cNvPr>
          <p:cNvSpPr txBox="1"/>
          <p:nvPr/>
        </p:nvSpPr>
        <p:spPr>
          <a:xfrm>
            <a:off x="342049" y="1333500"/>
            <a:ext cx="10724535" cy="311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The client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Tallis &amp; Reeves: innovative ideas get lost in email folders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Wanted: a clear pipeline from submission to implemented, with a sortable, filterable dashboard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The input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Three roles: </a:t>
            </a:r>
            <a:r>
              <a:rPr lang="en-GB" sz="2000" dirty="0"/>
              <a:t>admin, reviewer, staff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Client brief with Must, Should and Could haves; an AI client (Gemini) answers open questions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Three implementation pathways: </a:t>
            </a:r>
            <a:r>
              <a:rPr lang="en-GB" sz="2000" dirty="0"/>
              <a:t>Google Sheets, Local-first, GitHub with Supabase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The stage model</a:t>
            </a:r>
          </a:p>
        </p:txBody>
      </p:sp>
      <p:pic>
        <p:nvPicPr>
          <p:cNvPr id="12" name="Picture 11" descr="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50" y="4470400"/>
            <a:ext cx="9056836" cy="19685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73D3F70-87CA-3327-5DB2-964FF8EF0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72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708"/>
    </mc:Choice>
    <mc:Fallback>
      <p:transition spd="slow" advTm="837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6057-F222-526E-485B-26007B54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41C7709-2849-2741-B74D-71D1A4B09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F245326-ABA6-6CE2-1DAA-6713D22F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Approach, requirements and design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FB9FD7-3056-19B7-B1C2-496D2A9533AD}"/>
              </a:ext>
            </a:extLst>
          </p:cNvPr>
          <p:cNvSpPr txBox="1"/>
          <p:nvPr/>
        </p:nvSpPr>
        <p:spPr>
          <a:xfrm>
            <a:off x="342900" y="1333500"/>
            <a:ext cx="3683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Approach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Milestones first: </a:t>
            </a:r>
            <a:r>
              <a:rPr lang="en-GB" sz="2000" dirty="0"/>
              <a:t>best practices before building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Team charter: </a:t>
            </a:r>
            <a:r>
              <a:rPr lang="en-GB" sz="2000" dirty="0"/>
              <a:t>how we work together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CLAUDE.md: </a:t>
            </a:r>
            <a:r>
              <a:rPr lang="en-GB" sz="2000" dirty="0"/>
              <a:t>rules and context for the AI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One GitHub repo: </a:t>
            </a:r>
            <a:r>
              <a:rPr lang="en-GB" sz="2000" dirty="0"/>
              <a:t>all artefacts as Markdown, folders follow the SDLC</a:t>
            </a:r>
          </a:p>
        </p:txBody>
      </p:sp>
      <p:sp>
        <p:nvSpPr>
          <p:cNvPr id="101" name="Column 2">
            <a:extLst>
              <a:ext uri="{FF2B5EF4-FFF2-40B4-BE49-F238E27FC236}">
                <a16:creationId xmlns:a16="http://schemas.microsoft.com/office/drawing/2014/main" id="{50FB9FD7-3056-19B7-B1C2-496D2A9533AD}"/>
              </a:ext>
            </a:extLst>
          </p:cNvPr>
          <p:cNvSpPr txBox="1"/>
          <p:nvPr/>
        </p:nvSpPr>
        <p:spPr>
          <a:xfrm>
            <a:off x="4254500" y="1333500"/>
            <a:ext cx="3683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Requirements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PRD: </a:t>
            </a:r>
            <a:r>
              <a:rPr lang="en-GB" sz="2000" dirty="0"/>
              <a:t>Must and Should haves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AI client Q&amp;A </a:t>
            </a:r>
            <a:r>
              <a:rPr lang="en-GB" sz="2000" dirty="0"/>
              <a:t>saved as chat protocols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Open questions </a:t>
            </a:r>
            <a:r>
              <a:rPr lang="en-GB" sz="2000" dirty="0"/>
              <a:t>revealed anonymous and confidential ideas and a second chance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Result: </a:t>
            </a:r>
            <a:r>
              <a:rPr lang="en-GB" sz="2000" dirty="0"/>
              <a:t>one user story with acceptance criteria per Must and Should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6336F7C-B21E-1B6C-90B2-63BEC29A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  <p:sp>
        <p:nvSpPr>
          <p:cNvPr id="102" name="Column 3">
            <a:extLst>
              <a:ext uri="{FF2B5EF4-FFF2-40B4-BE49-F238E27FC236}">
                <a16:creationId xmlns:a16="http://schemas.microsoft.com/office/drawing/2014/main" id="{50FB9FD7-3056-19B7-B1C2-496D2A9533AD}"/>
              </a:ext>
            </a:extLst>
          </p:cNvPr>
          <p:cNvSpPr txBox="1"/>
          <p:nvPr/>
        </p:nvSpPr>
        <p:spPr>
          <a:xfrm>
            <a:off x="8166100" y="1333500"/>
            <a:ext cx="3683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Design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Design pack: </a:t>
            </a:r>
            <a:r>
              <a:rPr lang="en-GB" sz="2000" dirty="0"/>
              <a:t>data model, user journey, mockups (Claude, ChatGPT), React prototype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Prototype built for Supabase, reused unchanged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Keep it simple: </a:t>
            </a:r>
            <a:r>
              <a:rPr lang="en-GB" sz="2000" dirty="0"/>
              <a:t>data models simplified step by step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CLAUDE.md rule and senior developer skill (least code necessary)</a:t>
            </a:r>
          </a:p>
        </p:txBody>
      </p:sp>
    </p:spTree>
    <p:extLst>
      <p:ext uri="{BB962C8B-B14F-4D97-AF65-F5344CB8AC3E}">
        <p14:creationId xmlns:p14="http://schemas.microsoft.com/office/powerpoint/2010/main" val="271536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4CD1-8358-22E9-71BC-BB59D51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4E20643-D249-A3F4-E347-7D5AF45DE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174A3F7-E986-B576-1F2A-6F859CD6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Build (Setup and process)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DEAFAC-F8E0-A895-D221-4D8FF324CD70}"/>
              </a:ext>
            </a:extLst>
          </p:cNvPr>
          <p:cNvSpPr txBox="1"/>
          <p:nvPr/>
        </p:nvSpPr>
        <p:spPr>
          <a:xfrm>
            <a:off x="342900" y="1333500"/>
            <a:ext cx="5588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Setup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Public repo: </a:t>
            </a:r>
            <a:r>
              <a:rPr lang="en-GB" sz="2000" dirty="0"/>
              <a:t>https://github.com/mistakanista/ideaforge/ (push via SSH key, granted to Uli)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Backend: </a:t>
            </a:r>
            <a:r>
              <a:rPr lang="en-GB" sz="2000" dirty="0"/>
              <a:t>Supabase, after the Oracle free tier login failed; Java in Docker also considered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Supabase linked to GitHub: </a:t>
            </a:r>
            <a:r>
              <a:rPr lang="en-GB" sz="2000" dirty="0"/>
              <a:t>migrations run on push; seed data imported manually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Netlify linked to GitHub: </a:t>
            </a:r>
            <a:r>
              <a:rPr lang="en-GB" sz="2000" dirty="0"/>
              <a:t>every push is deployed, https://ideaforge-tou.netlify.app/</a:t>
            </a:r>
          </a:p>
        </p:txBody>
      </p:sp>
      <p:sp>
        <p:nvSpPr>
          <p:cNvPr id="101" name="Column 2">
            <a:extLst>
              <a:ext uri="{FF2B5EF4-FFF2-40B4-BE49-F238E27FC236}">
                <a16:creationId xmlns:a16="http://schemas.microsoft.com/office/drawing/2014/main" id="{C9DEAFAC-F8E0-A895-D221-4D8FF324CD70}"/>
              </a:ext>
            </a:extLst>
          </p:cNvPr>
          <p:cNvSpPr txBox="1"/>
          <p:nvPr/>
        </p:nvSpPr>
        <p:spPr>
          <a:xfrm>
            <a:off x="6261100" y="1333500"/>
            <a:ext cx="5588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Process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Slices: </a:t>
            </a:r>
            <a:r>
              <a:rPr lang="en-GB" sz="2000" dirty="0"/>
              <a:t>one user story at a time, starting with US-0 (Google login and database)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New Claude session </a:t>
            </a:r>
            <a:r>
              <a:rPr lang="en-GB" sz="2000" dirty="0"/>
              <a:t>with a plan step for every build step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Unclear points </a:t>
            </a:r>
            <a:r>
              <a:rPr lang="en-GB" sz="2000" dirty="0"/>
              <a:t>questioned and acceptance criteria adjusted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Order: </a:t>
            </a:r>
            <a:r>
              <a:rPr lang="en-GB" sz="2000" dirty="0"/>
              <a:t>data model adjustments first, then the frontend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B3D2AEF-87EC-BE0E-ABB0-53B69BDF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64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332A-AB89-4D8B-2B86-48AD70A5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BFF7A27-6DD3-0479-1931-F2D9DF703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4D1A480-B411-6025-D536-4E4CE118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Build (Security and test)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256DF2E-B802-B401-8227-4225E5ADFE8C}"/>
              </a:ext>
            </a:extLst>
          </p:cNvPr>
          <p:cNvSpPr txBox="1"/>
          <p:nvPr/>
        </p:nvSpPr>
        <p:spPr>
          <a:xfrm>
            <a:off x="342900" y="1333500"/>
            <a:ext cx="5588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Security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Supabase row level security </a:t>
            </a:r>
            <a:r>
              <a:rPr lang="en-GB" sz="2000" dirty="0"/>
              <a:t>handles authentication and permissions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Imported Tallis users </a:t>
            </a:r>
            <a:r>
              <a:rPr lang="en-GB" sz="2000" dirty="0"/>
              <a:t>set a new password at first login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Default password </a:t>
            </a:r>
            <a:r>
              <a:rPr lang="en-GB" sz="2000" dirty="0"/>
              <a:t>removed from CLAUDE.md after Gabi found it; a script now generates new ones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CLAUDE.md rule: </a:t>
            </a:r>
            <a:r>
              <a:rPr lang="en-GB" sz="2000" dirty="0"/>
              <a:t>never use a password or secret in the code</a:t>
            </a:r>
          </a:p>
        </p:txBody>
      </p:sp>
      <p:sp>
        <p:nvSpPr>
          <p:cNvPr id="101" name="Column 2">
            <a:extLst>
              <a:ext uri="{FF2B5EF4-FFF2-40B4-BE49-F238E27FC236}">
                <a16:creationId xmlns:a16="http://schemas.microsoft.com/office/drawing/2014/main" id="{1256DF2E-B802-B401-8227-4225E5ADFE8C}"/>
              </a:ext>
            </a:extLst>
          </p:cNvPr>
          <p:cNvSpPr txBox="1"/>
          <p:nvPr/>
        </p:nvSpPr>
        <p:spPr>
          <a:xfrm>
            <a:off x="6261100" y="1333500"/>
            <a:ext cx="5588000" cy="501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Test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Claude </a:t>
            </a:r>
            <a:r>
              <a:rPr lang="en-GB" sz="2000" dirty="0"/>
              <a:t>wrote and ran frontend and database tests after every feature and kept the build log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We </a:t>
            </a:r>
            <a:r>
              <a:rPr lang="en-GB" sz="2000" dirty="0"/>
              <a:t>ran the tests, checked the feature in the browser and reviewed the code changes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We committed and pushed manually, </a:t>
            </a:r>
            <a:r>
              <a:rPr lang="en-GB" sz="2000" dirty="0"/>
              <a:t>although Claude offered to do it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Build log summary </a:t>
            </a:r>
            <a:r>
              <a:rPr lang="en-GB" sz="2000" dirty="0"/>
              <a:t>records our AI experience for the last user story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6C46E7C-7009-AD19-663E-851D7EDBB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99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60FA-A787-161D-1949-92DDD6CC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64AFBC-F64F-CB0F-2333-07EE05D08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2CBD458-248F-4AC2-3D34-D0EDBBFF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Deploy and maintenance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70C1F1B-FD6B-2F2E-3A59-A5ED0D788DDF}"/>
              </a:ext>
            </a:extLst>
          </p:cNvPr>
          <p:cNvSpPr txBox="1"/>
          <p:nvPr/>
        </p:nvSpPr>
        <p:spPr>
          <a:xfrm>
            <a:off x="342050" y="1333500"/>
            <a:ext cx="11767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Deploy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Checklist template created for deployments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Netlify, chosen after evaluating Vercel: </a:t>
            </a:r>
            <a:r>
              <a:rPr lang="en-GB" sz="2000" dirty="0"/>
              <a:t>commercial use and unlimited members are allowed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Maintain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Folders for bugs and change requests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Impact note template: </a:t>
            </a:r>
            <a:r>
              <a:rPr lang="en-GB" sz="2000" dirty="0"/>
              <a:t>Claude writes one for every change request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Every change request gets a new user story with acceptance criteria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Decision example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Relate ideas instead of merging them: </a:t>
            </a:r>
            <a:r>
              <a:rPr lang="en-GB" sz="2000" dirty="0"/>
              <a:t>a merge loses data and gives one idea more than one owner, which is not clean and could cause other problems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922BD47-71F7-61F8-95C3-CC54A0DE8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22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64AFBC-F64F-CB0F-2333-07EE05D08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2CBD458-248F-4AC2-3D34-D0EDBBFF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How we handled change</a:t>
            </a:r>
            <a:endParaRPr lang="de-DE" sz="36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345471"/>
              </p:ext>
            </p:extLst>
          </p:nvPr>
        </p:nvGraphicFramePr>
        <p:xfrm>
          <a:off x="342050" y="1333500"/>
          <a:ext cx="11500000" cy="41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B9470C"/>
                          </a:solidFill>
                        </a:rPr>
                        <a:t>Request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B9470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9470C"/>
                          </a:solidFill>
                        </a:rPr>
                        <a:t>What we did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B9470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9470C"/>
                          </a:solidFill>
                        </a:rPr>
                        <a:t>How we checked nothing broke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B9470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9470C"/>
                          </a:solidFill>
                        </a:rPr>
                        <a:t>What we did not do, and why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B9470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r>
                        <a:rPr sz="1600" b="1"/>
                        <a:t>CR-1 Monthly email digest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B94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Impact note first. New admin page "Top ideas digest", database functions for the top 5 and a test mail on the first working day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B94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New database tests (14 + 19); older test suites run again; 116 unit tests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B94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No real send to all staff yet: needs a scheduler and client answers (holidays, time window)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B947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r>
                        <a:rPr sz="1600" b="1"/>
                        <a:t>CR-2 Merge ideas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Impact note first. Ideas are related instead of merged (duplicates / replaces / is related to): new table, "Relate" form, "Related ideas" list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New database tests (19); all older suites run again; 128 unit tests; browser test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No merge: it loses data and gives one idea two owners. Confidential ideas cannot be related, so nothing leaks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r>
                        <a:rPr sz="1600" b="1"/>
                        <a:t>Bug: double vote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Tried to reproduce the report from Glasgow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A quick double click removes the vote again; the count never rises by two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No fix, there is no defect. Documented in the bug file</a:t>
                      </a:r>
                    </a:p>
                  </a:txBody>
                  <a:tcPr marT="72000" marB="720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6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64AFBC-F64F-CB0F-2333-07EE05D08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2CBD458-248F-4AC2-3D34-D0EDBBFF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The app in action</a:t>
            </a:r>
            <a:endParaRPr lang="de-DE" sz="3600" b="1" dirty="0"/>
          </a:p>
        </p:txBody>
      </p:sp>
      <p:pic>
        <p:nvPicPr>
          <p:cNvPr id="10" name="Picture 9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50" y="1333500"/>
            <a:ext cx="3750000" cy="2343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050" y="3771900"/>
            <a:ext cx="37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Dashboard: staff browse, search and vote</a:t>
            </a:r>
          </a:p>
        </p:txBody>
      </p:sp>
      <p:pic>
        <p:nvPicPr>
          <p:cNvPr id="12" name="Picture 11" descr="confident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050" y="1333500"/>
            <a:ext cx="3750000" cy="2343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17050" y="3771900"/>
            <a:ext cx="37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Rule: a confidential idea is visible only to its submitter and reviewers</a:t>
            </a:r>
          </a:p>
        </p:txBody>
      </p:sp>
      <p:pic>
        <p:nvPicPr>
          <p:cNvPr id="14" name="Picture 13" descr="re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050" y="1333500"/>
            <a:ext cx="3750000" cy="2343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2050" y="3771900"/>
            <a:ext cx="37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Change request 2: a reviewer relates two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50" y="4991100"/>
            <a:ext cx="11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Screenshots from the local prototype mode with fictional demo data.</a:t>
            </a:r>
          </a:p>
        </p:txBody>
      </p:sp>
    </p:spTree>
    <p:extLst>
      <p:ext uri="{BB962C8B-B14F-4D97-AF65-F5344CB8AC3E}">
        <p14:creationId xmlns:p14="http://schemas.microsoft.com/office/powerpoint/2010/main" val="238994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94CC-2E2A-03A0-FCF8-778E0B6B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081229B-9A1E-3C0B-503B-5AE066FA8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4EDDEFC-5D66-5415-AA94-4D0FD666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Try it yourself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504C37-E4A0-417B-6C9E-73564372EDA0}"/>
              </a:ext>
            </a:extLst>
          </p:cNvPr>
          <p:cNvSpPr txBox="1"/>
          <p:nvPr/>
        </p:nvSpPr>
        <p:spPr>
          <a:xfrm>
            <a:off x="342050" y="1333500"/>
            <a:ext cx="117678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Live app: </a:t>
            </a:r>
            <a:r>
              <a:rPr lang="en-GB" sz="2000" dirty="0"/>
              <a:t>https://ideaforge-tou.netlify.app/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Run locally: </a:t>
            </a:r>
            <a:r>
              <a:rPr lang="en-GB" sz="2000" dirty="0"/>
              <a:t>Readme.md in https://github.com/mistakanista/ideaforge/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Demo accounts (fictional data only, sign-in limited to an allowlist):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Admin: </a:t>
            </a:r>
            <a:r>
              <a:rPr lang="en-GB" sz="2000" dirty="0"/>
              <a:t>Dev.Anand@tallis.uk : h5ggHkLL&amp;41</a:t>
            </a:r>
          </a:p>
          <a:p>
            <a:pPr marL="571500" indent="0">
              <a:spcBef>
                <a:spcPts val="600"/>
              </a:spcBef>
              <a:buNone/>
            </a:pPr>
            <a:r>
              <a:rPr lang="en-GB" sz="1600" dirty="0"/>
              <a:t>Only role that opens Users, Categories and Top ideas digest; cannot review ideas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Reviewer: </a:t>
            </a:r>
            <a:r>
              <a:rPr lang="en-GB" sz="2000" dirty="0"/>
              <a:t>Ruth.evans@tallis.uk : hhgR5TTx%</a:t>
            </a:r>
          </a:p>
          <a:p>
            <a:pPr marL="571500" indent="0">
              <a:spcBef>
                <a:spcPts val="600"/>
              </a:spcBef>
              <a:buNone/>
            </a:pPr>
            <a:r>
              <a:rPr lang="en-GB" sz="1600" dirty="0"/>
              <a:t>Scores or declines ideas and relates ideas; cannot review her own ideas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b="1" dirty="0"/>
              <a:t>Staff: </a:t>
            </a:r>
            <a:r>
              <a:rPr lang="en-GB" sz="2000" dirty="0"/>
              <a:t>Sofia.Marin@tallis.uk : htzCvvG56?</a:t>
            </a:r>
          </a:p>
          <a:p>
            <a:pPr marL="571500" indent="0">
              <a:spcBef>
                <a:spcPts val="600"/>
              </a:spcBef>
              <a:buNone/>
            </a:pPr>
            <a:r>
              <a:rPr lang="en-GB" sz="1600" dirty="0"/>
              <a:t>Submits and votes; confidential ideas of others stay invisible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FEE2158-1C79-D8CC-D81A-65B4BDFA0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81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CA59-E2DA-7F9B-5D34-FD96C0E6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5488A8F-8458-9EC5-6EE4-9472E6675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1408C-CDC3-8946-9F8C-D3ABB5939B45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F3F7AE9-F1C6-E665-BD27-A90C2BB6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 i="0" dirty="0">
                <a:effectLst/>
              </a:rPr>
              <a:t>What we learned</a:t>
            </a:r>
            <a:endParaRPr lang="de-DE" sz="3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EA534E-6A2E-9D2E-5C54-8CC7CB19AF88}"/>
              </a:ext>
            </a:extLst>
          </p:cNvPr>
          <p:cNvSpPr txBox="1"/>
          <p:nvPr/>
        </p:nvSpPr>
        <p:spPr>
          <a:xfrm>
            <a:off x="342050" y="1333500"/>
            <a:ext cx="1176788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What AI did well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Claude worked reliably; only a few bugs had to be corrected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We learned a lot about the SDLC, its artefacts and building with Claude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Where it went wrong or needed correcting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The first data modes and the generated diagrams were too complex; we added a "keep it simple" rule to </a:t>
            </a:r>
            <a:r>
              <a:rPr lang="en-GB" sz="2000" dirty="0" err="1"/>
              <a:t>CLAUDE.md</a:t>
            </a:r>
            <a:endParaRPr lang="en-GB" sz="2000" dirty="0"/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We added a rule to never store passwords, even not the default password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Supabase: business rules sit in immutable migrations, so they are hard to oversee and not well structured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B9470C"/>
                </a:solidFill>
              </a:rPr>
              <a:t>What we would do differently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Small steps and understanding what Claude did was a bit slower than necessary, but avoided bugs: we would keep it</a:t>
            </a:r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§"/>
            </a:pPr>
            <a:r>
              <a:rPr lang="en-GB" sz="2000" dirty="0"/>
              <a:t>For bigger projects: keep the business rules readable in one place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A58D9A5-009A-FA26-C3A7-5F676E843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1778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34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32"/>
    </mc:Choice>
    <mc:Fallback>
      <p:transition spd="slow" advTm="106432"/>
    </mc:Fallback>
  </mc:AlternateContent>
</p:sld>
</file>

<file path=ppt/theme/theme1.xml><?xml version="1.0" encoding="utf-8"?>
<a:theme xmlns:a="http://schemas.openxmlformats.org/drawingml/2006/main" name="1_SEITCO hell">
  <a:themeElements>
    <a:clrScheme name="Benutzerdefiniert 4">
      <a:dk1>
        <a:srgbClr val="000000"/>
      </a:dk1>
      <a:lt1>
        <a:srgbClr val="FFFFFF"/>
      </a:lt1>
      <a:dk2>
        <a:srgbClr val="013C59"/>
      </a:dk2>
      <a:lt2>
        <a:srgbClr val="FFFFFF"/>
      </a:lt2>
      <a:accent1>
        <a:srgbClr val="028ACE"/>
      </a:accent1>
      <a:accent2>
        <a:srgbClr val="0277B1"/>
      </a:accent2>
      <a:accent3>
        <a:srgbClr val="015077"/>
      </a:accent3>
      <a:accent4>
        <a:srgbClr val="013C5B"/>
      </a:accent4>
      <a:accent5>
        <a:srgbClr val="CBE1F0"/>
      </a:accent5>
      <a:accent6>
        <a:srgbClr val="000420"/>
      </a:accent6>
      <a:hlink>
        <a:srgbClr val="198CAD"/>
      </a:hlink>
      <a:folHlink>
        <a:srgbClr val="CBE1F0"/>
      </a:folHlink>
    </a:clrScheme>
    <a:fontScheme name="SEITCO_Neue-Regrade">
      <a:majorFont>
        <a:latin typeface="Neue Regrade"/>
        <a:ea typeface=""/>
        <a:cs typeface=""/>
      </a:majorFont>
      <a:minorFont>
        <a:latin typeface="Neue Regra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ITCO hell" id="{482D5009-736F-FC43-9546-BB2CB2AF3F34}" vid="{AF0E8F21-6807-044C-986D-7F8FB3923C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CF5E58-EC4A-744F-8E90-F71FE7435BB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d62d011-5568-4ad0-9fc2-c6c0c8bb025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b4d86a0-ea25-4b76-bbcf-02ec37808131">
      <Terms xmlns="http://schemas.microsoft.com/office/infopath/2007/PartnerControls"/>
    </lcf76f155ced4ddcb4097134ff3c332f>
    <TaxCatchAll xmlns="0ff9e0a2-84b2-4981-8ac4-c2befd3555a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CB94366DA63E48961B293F2C8E1DDE" ma:contentTypeVersion="18" ma:contentTypeDescription="Ein neues Dokument erstellen." ma:contentTypeScope="" ma:versionID="8418ac8d36f4f6a343f250ecae68d2ce">
  <xsd:schema xmlns:xsd="http://www.w3.org/2001/XMLSchema" xmlns:xs="http://www.w3.org/2001/XMLSchema" xmlns:p="http://schemas.microsoft.com/office/2006/metadata/properties" xmlns:ns2="cb4d86a0-ea25-4b76-bbcf-02ec37808131" xmlns:ns3="0ff9e0a2-84b2-4981-8ac4-c2befd3555a4" targetNamespace="http://schemas.microsoft.com/office/2006/metadata/properties" ma:root="true" ma:fieldsID="825186e549af2b6efff74cba56f72276" ns2:_="" ns3:_="">
    <xsd:import namespace="cb4d86a0-ea25-4b76-bbcf-02ec37808131"/>
    <xsd:import namespace="0ff9e0a2-84b2-4981-8ac4-c2befd3555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d86a0-ea25-4b76-bbcf-02ec37808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4a0e8cd-571b-465e-a828-bb7c0de7e8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9e0a2-84b2-4981-8ac4-c2befd3555a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b67db14-f1c9-405f-8ebe-3c28e8a82732}" ma:internalName="TaxCatchAll" ma:showField="CatchAllData" ma:web="0ff9e0a2-84b2-4981-8ac4-c2befd3555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35E1BA-9192-4F0F-AC1A-1E1C6220899B}">
  <ds:schemaRefs>
    <ds:schemaRef ds:uri="0ff9e0a2-84b2-4981-8ac4-c2befd3555a4"/>
    <ds:schemaRef ds:uri="http://schemas.microsoft.com/office/2006/metadata/properties"/>
    <ds:schemaRef ds:uri="http://purl.org/dc/elements/1.1/"/>
    <ds:schemaRef ds:uri="http://www.w3.org/XML/1998/namespace"/>
    <ds:schemaRef ds:uri="cb4d86a0-ea25-4b76-bbcf-02ec37808131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4849F9C-DFD3-4422-859B-181372DDF3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23D2A1-B2C1-438F-934B-C3E4654D7980}">
  <ds:schemaRefs>
    <ds:schemaRef ds:uri="0ff9e0a2-84b2-4981-8ac4-c2befd3555a4"/>
    <ds:schemaRef ds:uri="cb4d86a0-ea25-4b76-bbcf-02ec378081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SEITCO hell</Template>
  <TotalTime>0</TotalTime>
  <Words>1077</Words>
  <Application>Microsoft Macintosh PowerPoint</Application>
  <PresentationFormat>Breitbild</PresentationFormat>
  <Paragraphs>118</Paragraphs>
  <Slides>10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Aptos</vt:lpstr>
      <vt:lpstr>Arial</vt:lpstr>
      <vt:lpstr>Neue Regrade</vt:lpstr>
      <vt:lpstr>Neue Regrade Semibold</vt:lpstr>
      <vt:lpstr>Symbol</vt:lpstr>
      <vt:lpstr>Wingdings</vt:lpstr>
      <vt:lpstr>1_SEITCO hell</vt:lpstr>
      <vt:lpstr>The forge  Idea forge – idea pipeline  Uli Stormanns, Gernot Schulmeister 5. to 25. October 2026    </vt:lpstr>
      <vt:lpstr>The problem</vt:lpstr>
      <vt:lpstr>Approach, requirements and design</vt:lpstr>
      <vt:lpstr>Build (Setup and process)</vt:lpstr>
      <vt:lpstr>Build (Security and test)</vt:lpstr>
      <vt:lpstr>Deploy and maintenance</vt:lpstr>
      <vt:lpstr>How we handled change</vt:lpstr>
      <vt:lpstr>The app in action</vt:lpstr>
      <vt:lpstr>Try it yourself</vt:lpstr>
      <vt:lpstr>What we learned</vt:lpstr>
    </vt:vector>
  </TitlesOfParts>
  <Manager/>
  <Company>SEITCO QWICS Solutions GmbH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sustainable financial solutions for a digital future</dc:title>
  <dc:subject/>
  <dc:creator>Jüttner, Arne</dc:creator>
  <cp:keywords/>
  <dc:description/>
  <cp:lastModifiedBy>Uli Stormanns</cp:lastModifiedBy>
  <cp:revision>203</cp:revision>
  <cp:lastPrinted>2026-10-02T06:26:35Z</cp:lastPrinted>
  <dcterms:created xsi:type="dcterms:W3CDTF">2024-07-20T09:52:05Z</dcterms:created>
  <dcterms:modified xsi:type="dcterms:W3CDTF">2026-10-24T15:27:24Z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2024-07-20T11:00:53Z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3a406007-c99f-4f55-9fe1-f546daf135a4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0x0101005BCB94366DA63E48961B293F2C8E1DDE</vt:lpwstr>
  </property>
  <property fmtid="{D5CDD505-2E9C-101B-9397-08002B2CF9AE}" pid="10" name="MediaServiceImageTags">
    <vt:lpwstr/>
  </property>
  <property fmtid="{D5CDD505-2E9C-101B-9397-08002B2CF9AE}" pid="11" name="Order">
    <vt:r8>2084400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